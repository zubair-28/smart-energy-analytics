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3294c2cda40a9" /><Relationship Type="http://schemas.openxmlformats.org/officeDocument/2006/relationships/extended-properties" Target="/docProps/app.xml" Id="R0e64064f7214482f" /><Relationship Type="http://schemas.openxmlformats.org/officeDocument/2006/relationships/officeDocument" Target="/ppt/presentation.xml" Id="R5f7dfa2b8be0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5422a796b144c3"/>
  </p:sldMasterIdLst>
  <p:notesMasterIdLst>
    <p:notesMasterId xmlns:r="http://schemas.openxmlformats.org/officeDocument/2006/relationships" r:id="R4f919d1c531c4ca1"/>
  </p:notesMasterIdLst>
  <p:sldIdLst>
    <p:sldId xmlns:r="http://schemas.openxmlformats.org/officeDocument/2006/relationships" id="256" r:id="R66f5fdbc93a346ab"/>
    <p:sldId xmlns:r="http://schemas.openxmlformats.org/officeDocument/2006/relationships" id="257" r:id="R73267571ba7d4403"/>
    <p:sldId xmlns:r="http://schemas.openxmlformats.org/officeDocument/2006/relationships" id="258" r:id="R9b3852e1b10a4708"/>
    <p:sldId xmlns:r="http://schemas.openxmlformats.org/officeDocument/2006/relationships" id="259" r:id="Rb7f923439edb4726"/>
    <p:sldId xmlns:r="http://schemas.openxmlformats.org/officeDocument/2006/relationships" id="260" r:id="R8c651e2745534961"/>
    <p:sldId xmlns:r="http://schemas.openxmlformats.org/officeDocument/2006/relationships" id="261" r:id="Rdfa98a4b28424657"/>
    <p:sldId xmlns:r="http://schemas.openxmlformats.org/officeDocument/2006/relationships" id="262" r:id="R140c1b35ff0a4000"/>
    <p:sldId xmlns:r="http://schemas.openxmlformats.org/officeDocument/2006/relationships" id="263" r:id="Rebb15629fd60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058cdad3da4938" /><Relationship Type="http://schemas.openxmlformats.org/officeDocument/2006/relationships/slideMaster" Target="/ppt/slideMasters/slideMaster1.xml" Id="Rf45422a796b144c3" /><Relationship Type="http://schemas.openxmlformats.org/officeDocument/2006/relationships/notesMaster" Target="/ppt/notesMasters/notesMaster1.xml" Id="R4f919d1c531c4ca1" /><Relationship Type="http://schemas.openxmlformats.org/officeDocument/2006/relationships/presProps" Target="/ppt/presProps.xml" Id="R8383aae48b7a4c6e" /><Relationship Type="http://schemas.openxmlformats.org/officeDocument/2006/relationships/tableStyles" Target="/ppt/tableStyles.xml" Id="R91afbcffab814b88" /><Relationship Type="http://schemas.openxmlformats.org/officeDocument/2006/relationships/slide" Target="/ppt/slides/slide1.xml" Id="R66f5fdbc93a346ab" /><Relationship Type="http://schemas.openxmlformats.org/officeDocument/2006/relationships/slide" Target="/ppt/slides/slide2.xml" Id="R73267571ba7d4403" /><Relationship Type="http://schemas.openxmlformats.org/officeDocument/2006/relationships/slide" Target="/ppt/slides/slide3.xml" Id="R9b3852e1b10a4708" /><Relationship Type="http://schemas.openxmlformats.org/officeDocument/2006/relationships/slide" Target="/ppt/slides/slide4.xml" Id="Rb7f923439edb4726" /><Relationship Type="http://schemas.openxmlformats.org/officeDocument/2006/relationships/slide" Target="/ppt/slides/slide5.xml" Id="R8c651e2745534961" /><Relationship Type="http://schemas.openxmlformats.org/officeDocument/2006/relationships/slide" Target="/ppt/slides/slide6.xml" Id="Rdfa98a4b28424657" /><Relationship Type="http://schemas.openxmlformats.org/officeDocument/2006/relationships/slide" Target="/ppt/slides/slide7.xml" Id="R140c1b35ff0a4000" /><Relationship Type="http://schemas.openxmlformats.org/officeDocument/2006/relationships/slide" Target="/ppt/slides/slide8.xml" Id="Rebb15629fd60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7200ce21e8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5dff6ec0c54b16" /><Relationship Type="http://schemas.openxmlformats.org/officeDocument/2006/relationships/notesMaster" Target="/ppt/notesMasters/notesMaster1.xml" Id="R6e1855f89f18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02b4705ca34346" /><Relationship Type="http://schemas.openxmlformats.org/officeDocument/2006/relationships/notesMaster" Target="/ppt/notesMasters/notesMaster1.xml" Id="Rad935dc2dab1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eae2f616604b66" /><Relationship Type="http://schemas.openxmlformats.org/officeDocument/2006/relationships/notesMaster" Target="/ppt/notesMasters/notesMaster1.xml" Id="Rb81a37b1042343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a3e9fb94e46e2" /><Relationship Type="http://schemas.openxmlformats.org/officeDocument/2006/relationships/notesMaster" Target="/ppt/notesMasters/notesMaster1.xml" Id="R915d95698c4048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73a2bf1469468d" /><Relationship Type="http://schemas.openxmlformats.org/officeDocument/2006/relationships/notesMaster" Target="/ppt/notesMasters/notesMaster1.xml" Id="Rc169adf90e754d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b7026f2f44552" /><Relationship Type="http://schemas.openxmlformats.org/officeDocument/2006/relationships/notesMaster" Target="/ppt/notesMasters/notesMaster1.xml" Id="R8a85c4f9b7ae4f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64cfee1c314a5f" /><Relationship Type="http://schemas.openxmlformats.org/officeDocument/2006/relationships/notesMaster" Target="/ppt/notesMasters/notesMaster1.xml" Id="Rda5a51acb99842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5e2e35923d4929" /><Relationship Type="http://schemas.openxmlformats.org/officeDocument/2006/relationships/notesMaster" Target="/ppt/notesMasters/notesMaster1.xml" Id="R716988aef960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91341c2dd42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9cf086c1446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f6188823d41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132974b4d4d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047fc5cd542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f025ca51748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CAF5E-2E83-4676-98D6-30CE15B55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E2C57D-2783-4914-A270-3392D596C4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67CEA6-EF58-4664-9C13-B574BF71EE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2C57B7-0EF4-4523-B446-E34CBEDBC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C7D33-024B-4833-BCFD-A734CA2ACF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770D1E-AA54-4BCF-ADF2-DA653FE4F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78E6E0-0C41-4042-A819-96E909F12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B7B8C7-6327-45C1-985C-9AD30B7CA3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F84D1E-E88D-4C55-9A7A-62D0AAA1F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25686C-6629-4CD2-B744-2464D671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2354db95c04930" /><Relationship Type="http://schemas.openxmlformats.org/officeDocument/2006/relationships/slideLayout" Target="/ppt/slideLayouts/slideLayout1.xml" Id="R487afc1ab7764879" /><Relationship Type="http://schemas.openxmlformats.org/officeDocument/2006/relationships/slideLayout" Target="/ppt/slideLayouts/slideLayout2.xml" Id="R9b96ebba3e2046e6" /><Relationship Type="http://schemas.openxmlformats.org/officeDocument/2006/relationships/slideLayout" Target="/ppt/slideLayouts/slideLayout3.xml" Id="R45704fb9a6f84581" /><Relationship Type="http://schemas.openxmlformats.org/officeDocument/2006/relationships/slideLayout" Target="/ppt/slideLayouts/slideLayout4.xml" Id="R4495f71251904d3c" /><Relationship Type="http://schemas.openxmlformats.org/officeDocument/2006/relationships/slideLayout" Target="/ppt/slideLayouts/slideLayout5.xml" Id="Rc05fc723c2824042" /><Relationship Type="http://schemas.openxmlformats.org/officeDocument/2006/relationships/slideLayout" Target="/ppt/slideLayouts/slideLayout6.xml" Id="Ra3e147ec1c34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afc1ab7764879"/>
    <p:sldLayoutId xmlns:r="http://schemas.openxmlformats.org/officeDocument/2006/relationships" id="2147483650" r:id="R9b96ebba3e2046e6"/>
    <p:sldLayoutId xmlns:r="http://schemas.openxmlformats.org/officeDocument/2006/relationships" id="2147483651" r:id="R45704fb9a6f84581"/>
    <p:sldLayoutId xmlns:r="http://schemas.openxmlformats.org/officeDocument/2006/relationships" id="2147483652" r:id="R4495f71251904d3c"/>
    <p:sldLayoutId xmlns:r="http://schemas.openxmlformats.org/officeDocument/2006/relationships" id="2147483653" r:id="Rc05fc723c2824042"/>
    <p:sldLayoutId xmlns:r="http://schemas.openxmlformats.org/officeDocument/2006/relationships" id="2147483654" r:id="Ra3e147ec1c34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27a1ef292448b" /><Relationship Type="http://schemas.openxmlformats.org/officeDocument/2006/relationships/notesSlide" Target="/ppt/notesSlides/notesSlide1.xml" Id="Rd5b7bcd6211d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7899966ea4802" /><Relationship Type="http://schemas.openxmlformats.org/officeDocument/2006/relationships/notesSlide" Target="/ppt/notesSlides/notesSlide2.xml" Id="Rd97cb6ccb37146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efad9616b48d7" /><Relationship Type="http://schemas.openxmlformats.org/officeDocument/2006/relationships/notesSlide" Target="/ppt/notesSlides/notesSlide3.xml" Id="Rac1dba48afc54a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93c01a37a469d" /><Relationship Type="http://schemas.openxmlformats.org/officeDocument/2006/relationships/notesSlide" Target="/ppt/notesSlides/notesSlide4.xml" Id="R464b1cc27f104a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1c0ddf5d24133" /><Relationship Type="http://schemas.openxmlformats.org/officeDocument/2006/relationships/notesSlide" Target="/ppt/notesSlides/notesSlide5.xml" Id="Re93d3b5ab0cb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dbcbad7f24193" /><Relationship Type="http://schemas.openxmlformats.org/officeDocument/2006/relationships/notesSlide" Target="/ppt/notesSlides/notesSlide6.xml" Id="Rc43585f40b3f4c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5dc061242463c" /><Relationship Type="http://schemas.openxmlformats.org/officeDocument/2006/relationships/notesSlide" Target="/ppt/notesSlides/notesSlide7.xml" Id="R6df95464695f4c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ded117c6d4aa2" /><Relationship Type="http://schemas.openxmlformats.org/officeDocument/2006/relationships/notesSlide" Target="/ppt/notesSlides/notesSlide8.xml" Id="R66fc920c502a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1315F-C1EE-40FD-815B-68EA4B64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SmartEnergy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04827-0F4C-40B1-B541-1242D919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6F6F8"/>
                </a:solidFill>
              </a:defRPr>
            </a:defPPr>
            <a:lvl1pPr>
              <a:defRPr sz="2100">
                <a:solidFill>
                  <a:srgbClr val="E6F6F8"/>
                </a:solidFill>
              </a:defRPr>
            </a:lvl1pPr>
            <a:lvl2pPr>
              <a:defRPr sz="2100">
                <a:solidFill>
                  <a:srgbClr val="E6F6F8"/>
                </a:solidFill>
              </a:defRPr>
            </a:lvl2pPr>
            <a:lvl3pPr>
              <a:defRPr sz="2100">
                <a:solidFill>
                  <a:srgbClr val="E6F6F8"/>
                </a:solidFill>
              </a:defRPr>
            </a:lvl3pPr>
            <a:lvl4pPr>
              <a:defRPr sz="2100">
                <a:solidFill>
                  <a:srgbClr val="E6F6F8"/>
                </a:solidFill>
              </a:defRPr>
            </a:lvl4pPr>
            <a:lvl5pPr>
              <a:defRPr sz="2100">
                <a:solidFill>
                  <a:srgbClr val="E6F6F8"/>
                </a:solidFill>
              </a:defRPr>
            </a:lvl5pPr>
            <a:lvl6pPr>
              <a:defRPr sz="2100">
                <a:solidFill>
                  <a:srgbClr val="E6F6F8"/>
                </a:solidFill>
              </a:defRPr>
            </a:lvl6pPr>
            <a:lvl7pPr>
              <a:defRPr sz="2100">
                <a:solidFill>
                  <a:srgbClr val="E6F6F8"/>
                </a:solidFill>
              </a:defRPr>
            </a:lvl7pPr>
            <a:lvl8pPr>
              <a:defRPr sz="2100">
                <a:solidFill>
                  <a:srgbClr val="E6F6F8"/>
                </a:solidFill>
              </a:defRPr>
            </a:lvl8pPr>
            <a:lvl9pPr>
              <a:defRPr sz="2100">
                <a:solidFill>
                  <a:srgbClr val="E6F6F8"/>
                </a:solidFill>
              </a:defRPr>
            </a:lvl9pPr>
          </a:lstStyle>
          <a:p xmlns:a="http://schemas.openxmlformats.org/drawingml/2006/main">
            <a:pPr>
              <a:defRPr sz="2100">
                <a:solidFill>
                  <a:srgbClr val="E6F6F8"/>
                </a:solidFill>
              </a:defRPr>
            </a:pPr>
            <a:r>
              <a:rPr sz="2100">
                <a:solidFill>
                  <a:srgbClr val="E6F6F8"/>
                </a:solidFill>
              </a:rPr>
              <a:t>A cloud-ready platform for electricity consumption analysis, anomaly detection, and demand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A6234-115A-4EEA-A2DA-5731FA8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9FB3C8"/>
                </a:solidFill>
              </a:defRPr>
            </a:defPPr>
            <a:lvl1pPr>
              <a:defRPr sz="1350">
                <a:solidFill>
                  <a:srgbClr val="9FB3C8"/>
                </a:solidFill>
              </a:defRPr>
            </a:lvl1pPr>
            <a:lvl2pPr>
              <a:defRPr sz="1350">
                <a:solidFill>
                  <a:srgbClr val="9FB3C8"/>
                </a:solidFill>
              </a:defRPr>
            </a:lvl2pPr>
            <a:lvl3pPr>
              <a:defRPr sz="1350">
                <a:solidFill>
                  <a:srgbClr val="9FB3C8"/>
                </a:solidFill>
              </a:defRPr>
            </a:lvl3pPr>
            <a:lvl4pPr>
              <a:defRPr sz="1350">
                <a:solidFill>
                  <a:srgbClr val="9FB3C8"/>
                </a:solidFill>
              </a:defRPr>
            </a:lvl4pPr>
            <a:lvl5pPr>
              <a:defRPr sz="1350">
                <a:solidFill>
                  <a:srgbClr val="9FB3C8"/>
                </a:solidFill>
              </a:defRPr>
            </a:lvl5pPr>
            <a:lvl6pPr>
              <a:defRPr sz="1350">
                <a:solidFill>
                  <a:srgbClr val="9FB3C8"/>
                </a:solidFill>
              </a:defRPr>
            </a:lvl6pPr>
            <a:lvl7pPr>
              <a:defRPr sz="1350">
                <a:solidFill>
                  <a:srgbClr val="9FB3C8"/>
                </a:solidFill>
              </a:defRPr>
            </a:lvl7pPr>
            <a:lvl8pPr>
              <a:defRPr sz="1350">
                <a:solidFill>
                  <a:srgbClr val="9FB3C8"/>
                </a:solidFill>
              </a:defRPr>
            </a:lvl8pPr>
            <a:lvl9pPr>
              <a:defRPr sz="1350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9FB3C8"/>
                </a:solidFill>
              </a:defRPr>
            </a:pPr>
            <a:r>
              <a:rPr sz="1350">
                <a:solidFill>
                  <a:srgbClr val="9FB3C8"/>
                </a:solidFill>
              </a:rPr>
              <a:t>Big Data Analytics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0E3E2-7842-4F3A-9713-45E99FF6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31645-7C2A-40E9-B9E0-E7815896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9FB3C8"/>
                </a:solidFill>
              </a:defRPr>
            </a:defPPr>
            <a:lvl1pPr>
              <a:defRPr sz="1200" b="1">
                <a:solidFill>
                  <a:srgbClr val="9FB3C8"/>
                </a:solidFill>
              </a:defRPr>
            </a:lvl1pPr>
            <a:lvl2pPr>
              <a:defRPr sz="1200" b="1">
                <a:solidFill>
                  <a:srgbClr val="9FB3C8"/>
                </a:solidFill>
              </a:defRPr>
            </a:lvl2pPr>
            <a:lvl3pPr>
              <a:defRPr sz="1200" b="1">
                <a:solidFill>
                  <a:srgbClr val="9FB3C8"/>
                </a:solidFill>
              </a:defRPr>
            </a:lvl3pPr>
            <a:lvl4pPr>
              <a:defRPr sz="1200" b="1">
                <a:solidFill>
                  <a:srgbClr val="9FB3C8"/>
                </a:solidFill>
              </a:defRPr>
            </a:lvl4pPr>
            <a:lvl5pPr>
              <a:defRPr sz="1200" b="1">
                <a:solidFill>
                  <a:srgbClr val="9FB3C8"/>
                </a:solidFill>
              </a:defRPr>
            </a:lvl5pPr>
            <a:lvl6pPr>
              <a:defRPr sz="1200" b="1">
                <a:solidFill>
                  <a:srgbClr val="9FB3C8"/>
                </a:solidFill>
              </a:defRPr>
            </a:lvl6pPr>
            <a:lvl7pPr>
              <a:defRPr sz="1200" b="1">
                <a:solidFill>
                  <a:srgbClr val="9FB3C8"/>
                </a:solidFill>
              </a:defRPr>
            </a:lvl7pPr>
            <a:lvl8pPr>
              <a:defRPr sz="1200" b="1">
                <a:solidFill>
                  <a:srgbClr val="9FB3C8"/>
                </a:solidFill>
              </a:defRPr>
            </a:lvl8pPr>
            <a:lvl9pPr>
              <a:defRPr sz="1200" b="1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FB3C8"/>
                </a:solidFill>
              </a:defRPr>
            </a:pPr>
            <a:r>
              <a:rPr sz="1200" b="1">
                <a:solidFill>
                  <a:srgbClr val="9FB3C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7155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A4F01-6D0A-4785-9BFF-0D8A994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E270F-0C27-4716-A7B9-12D2D181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Electricity records become difficult to inspect as volume grows. Users need one workflow for cleaning, trends, peaks, unusual readings, future demand, and evidence-backed insights.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B6317-57F4-46C7-B1E8-7EAF889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Historical data is the initial 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FFE77-A4D2-45D1-8F67-89795365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BFCD6-9AFD-4FC8-B91F-9BA62AE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7204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BF107-3418-4D55-8BDF-7793D104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C989A-A716-4B98-90F2-B1507BD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Source CSV or S3 raw object → validation and feature engineering → PySpark processing path → analytical outputs → Streamlit and Plotly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77000-B63E-403E-9680-6DEFE2C2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Boto3 uses the standard AWS credential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FB8B5-20F9-4643-9767-C6E83C5E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7E94B-3521-47C9-9ACA-D3E33969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186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A92EE-EB0B-40F1-91C7-CB201D7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Processing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66799-7F0A-4A65-B6F4-8920F838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Schema checks and UTC timestamp parsing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Calendar features and entity keys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Hourly, daily, monthly, and entity summaries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CSV exports and quality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66CAB-BF8E-4F33-9022-3885109C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The pipeline records the engine that actually ran.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79D26-EF74-486F-B749-AB1E1922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2A06A-764A-4D07-BFE4-C7FE95B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8051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29F9E-D3BA-4231-B4DF-B8586DF7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Analytics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1D68D-31C6-4A84-B445-DBC00E6C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Consumption: peaks, trends, comparisons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Anomalies: prior rolling baseline and z-score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Forecasting: seven-day historical mean baseline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Insights: generated from measured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D32B-0024-43BC-8E70-8E4C118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An anomaly is a candidate for investigation, not a confirmed fault.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0DA3-84F3-44A8-BF13-D0BC8E7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E41D2-2F76-44F5-9D53-0113324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1219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87D59-E924-458B-92A7-65787794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Dashboard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5F798-32AA-4F63-9DB8-08205AB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Energy overview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Consumption analytics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Anomaly monitor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Demand forecast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Energy insights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Data quality and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2A06B-8B83-4652-985B-489F6E36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The dashboard reads processed outputs instead of fabricating metrics.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B2CE3-A7FC-409B-934F-B4FAC126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5BF5A-3D95-40D3-98A2-08C4854E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2113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EF24F-2B3D-4076-99FF-4C82A094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Demonstration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CACB-774F-4A9E-AD8E-CF614B9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Included demo: 2,016 synthetic hourly records, zero invalid rows, zero duplicate removals, zero missing values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Automated tests: 3 passed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Streamlit smoke test: HTTP 200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529E0-5052-4AD6-A3FE-3F9B23B6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Demo data is synthetic and clearly labeled.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0064-300B-4BED-9079-3BFBD3EC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390D9-9AC3-46BD-BC37-08FCBD0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1966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FB7E9-47E8-4561-A432-8770CB52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Evaluation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15924-D13E-4830-9517-4465E08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02A43"/>
                </a:solidFill>
              </a:defRPr>
            </a:defPPr>
            <a:lvl1pPr>
              <a:defRPr sz="1875">
                <a:solidFill>
                  <a:srgbClr val="102A43"/>
                </a:solidFill>
              </a:defRPr>
            </a:lvl1pPr>
            <a:lvl2pPr>
              <a:defRPr sz="1875">
                <a:solidFill>
                  <a:srgbClr val="102A43"/>
                </a:solidFill>
              </a:defRPr>
            </a:lvl2pPr>
            <a:lvl3pPr>
              <a:defRPr sz="1875">
                <a:solidFill>
                  <a:srgbClr val="102A43"/>
                </a:solidFill>
              </a:defRPr>
            </a:lvl3pPr>
            <a:lvl4pPr>
              <a:defRPr sz="1875">
                <a:solidFill>
                  <a:srgbClr val="102A43"/>
                </a:solidFill>
              </a:defRPr>
            </a:lvl4pPr>
            <a:lvl5pPr>
              <a:defRPr sz="1875">
                <a:solidFill>
                  <a:srgbClr val="102A43"/>
                </a:solidFill>
              </a:defRPr>
            </a:lvl5pPr>
            <a:lvl6pPr>
              <a:defRPr sz="1875">
                <a:solidFill>
                  <a:srgbClr val="102A43"/>
                </a:solidFill>
              </a:defRPr>
            </a:lvl6pPr>
            <a:lvl7pPr>
              <a:defRPr sz="1875">
                <a:solidFill>
                  <a:srgbClr val="102A43"/>
                </a:solidFill>
              </a:defRPr>
            </a:lvl7pPr>
            <a:lvl8pPr>
              <a:defRPr sz="1875">
                <a:solidFill>
                  <a:srgbClr val="102A43"/>
                </a:solidFill>
              </a:defRPr>
            </a:lvl8pPr>
            <a:lvl9pPr>
              <a:defRPr sz="1875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Measured benchmark runner for increasing dataset sizes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Secure S3 integration ready for a real bucket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Public GitHub repository with reproducible setup</a:t>
            </a:r>
          </a:p>
          <a:p xmlns:a="http://schemas.openxmlformats.org/drawingml/2006/main">
            <a:pPr>
              <a:defRPr sz="1875">
                <a:solidFill>
                  <a:srgbClr val="102A43"/>
                </a:solidFill>
              </a:defRPr>
            </a:pPr>
            <a:r>
              <a:rPr sz="1875">
                <a:solidFill>
                  <a:srgbClr val="102A43"/>
                </a:solidFill>
              </a:rPr>
              <a:t>Next academic step: substitute and document a public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B212C-8C82-4C16-A0E2-3738F0B4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Spark and S3 results remain environment-dependent until a supported runtime and credentials are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3A2D0-01B5-4957-8BC2-FB694A3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F5851-3998-4E5F-9123-D395BC2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233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2026-10-25T07:45:03.6500000Z</dcterms:created>
  <dcterms:modified xsi:type="dcterms:W3CDTF">2026-10-25T07:45:03.6500000Z</dcterms:modified>
</coreProperties>
</file>